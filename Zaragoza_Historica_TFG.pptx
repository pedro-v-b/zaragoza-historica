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5A8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28600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210312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5A8A9F"/>
                </a:solidFill>
                <a:latin typeface="Calibri"/>
              </a:rPr>
              <a:t>Zaragoza Histórica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017520"/>
            <a:ext cx="6858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F59435"/>
                </a:solidFill>
                <a:latin typeface="Calibri"/>
              </a:rPr>
              <a:t>Fotografía histórica geolocalizada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3749039"/>
            <a:ext cx="1371600" cy="15000"/>
          </a:xfrm>
          <a:prstGeom prst="rect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40233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Trabajo Fin de Grado  ·  DAM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5720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Pedro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9377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Calibr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73152" cy="548640"/>
          </a:xfrm>
          <a:prstGeom prst="rect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5A8A9F"/>
                </a:solidFill>
                <a:latin typeface="Calibri"/>
              </a:rPr>
              <a:t>El problema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0">
                <a:solidFill>
                  <a:srgbClr val="2C3E50"/>
                </a:solidFill>
                <a:latin typeface="Calibri"/>
              </a:rPr>
              <a:t>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A8A9F"/>
                </a:solidFill>
                <a:latin typeface="Calibri"/>
              </a:rPr>
              <a:t>Archivos dispersos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Calibri"/>
              </a:rPr>
              <a:t>AMZ, Flickr, fondos digitales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28600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0">
                <a:solidFill>
                  <a:srgbClr val="2C3E50"/>
                </a:solidFill>
                <a:latin typeface="Calibri"/>
              </a:rPr>
              <a:t>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5661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A8A9F"/>
                </a:solidFill>
                <a:latin typeface="Calibri"/>
              </a:rPr>
              <a:t>Sin contexto espacial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1148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Calibri"/>
              </a:rPr>
              <a:t>¿Dónde fue tomada cada foto?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28600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0">
                <a:solidFill>
                  <a:srgbClr val="2C3E50"/>
                </a:solidFill>
                <a:latin typeface="Calibri"/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5661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A8A9F"/>
                </a:solidFill>
                <a:latin typeface="Calibri"/>
              </a:rPr>
              <a:t>Difícil exploración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1148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Calibri"/>
              </a:rPr>
              <a:t>No hay búsqueda visual unificada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Calibri"/>
              </a:rPr>
              <a:t>Zaragoza Histórica  |  TFG DAM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73152" cy="548640"/>
          </a:xfrm>
          <a:prstGeom prst="rect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5A8A9F"/>
                </a:solidFill>
                <a:latin typeface="Calibri"/>
              </a:rPr>
              <a:t>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7F8C8D"/>
                </a:solidFill>
                <a:latin typeface="Calibri"/>
              </a:rPr>
              <a:t>Mapa interactivo web con exploración visual</a:t>
            </a:r>
          </a:p>
        </p:txBody>
      </p:sp>
      <p:sp>
        <p:nvSpPr>
          <p:cNvPr id="6" name="Oval 5"/>
          <p:cNvSpPr/>
          <p:nvPr/>
        </p:nvSpPr>
        <p:spPr>
          <a:xfrm>
            <a:off x="1737360" y="3108960"/>
            <a:ext cx="2011680" cy="2011680"/>
          </a:xfrm>
          <a:prstGeom prst="ellipse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5.214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212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fotografías</a:t>
            </a:r>
          </a:p>
        </p:txBody>
      </p:sp>
      <p:sp>
        <p:nvSpPr>
          <p:cNvPr id="8" name="Oval 7"/>
          <p:cNvSpPr/>
          <p:nvPr/>
        </p:nvSpPr>
        <p:spPr>
          <a:xfrm>
            <a:off x="5093208" y="3108960"/>
            <a:ext cx="2011680" cy="2011680"/>
          </a:xfrm>
          <a:prstGeom prst="ellipse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35K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5212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edificios</a:t>
            </a:r>
          </a:p>
        </p:txBody>
      </p:sp>
      <p:sp>
        <p:nvSpPr>
          <p:cNvPr id="10" name="Oval 9"/>
          <p:cNvSpPr/>
          <p:nvPr/>
        </p:nvSpPr>
        <p:spPr>
          <a:xfrm>
            <a:off x="8439912" y="3108960"/>
            <a:ext cx="2011680" cy="2011680"/>
          </a:xfrm>
          <a:prstGeom prst="ellipse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5212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2C3E50"/>
                </a:solidFill>
                <a:latin typeface="Calibri"/>
              </a:rPr>
              <a:t>capas mapa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Calibri"/>
              </a:rPr>
              <a:t>Zaragoza Histórica  |  TFG DAM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73152" cy="548640"/>
          </a:xfrm>
          <a:prstGeom prst="rect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5A8A9F"/>
                </a:solidFill>
                <a:latin typeface="Calibri"/>
              </a:rPr>
              <a:t>Elemento diferenciador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59435"/>
                </a:solidFill>
                <a:latin typeface="Calibri"/>
              </a:rPr>
              <a:t>Integración única de fuentes abiertas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103120"/>
            <a:ext cx="48463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2C3E50"/>
                </a:solidFill>
                <a:latin typeface="Calibri"/>
              </a:rPr>
              <a:t>🗺️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423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5A8A9F"/>
                </a:solidFill>
                <a:latin typeface="Calibri"/>
              </a:rPr>
              <a:t>Cartografía 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92608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Calibri"/>
              </a:rPr>
              <a:t>Vuelos 1956, MTN 1915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03120"/>
            <a:ext cx="48463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2C3E50"/>
                </a:solidFill>
                <a:latin typeface="Calibri"/>
              </a:rPr>
              <a:t>🏛️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423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5A8A9F"/>
                </a:solidFill>
                <a:latin typeface="Calibri"/>
              </a:rPr>
              <a:t>Catastro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92608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Calibri"/>
              </a:rPr>
              <a:t>35.418 edificios con año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114800"/>
            <a:ext cx="48463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48056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2C3E50"/>
                </a:solidFill>
                <a:latin typeface="Calibri"/>
              </a:rPr>
              <a:t>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4348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5A8A9F"/>
                </a:solidFill>
                <a:latin typeface="Calibri"/>
              </a:rPr>
              <a:t>Wikipedia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93776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Calibri"/>
              </a:rPr>
              <a:t>Contexto enciclopédico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114800"/>
            <a:ext cx="484632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4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480560"/>
            <a:ext cx="731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0">
                <a:solidFill>
                  <a:srgbClr val="2C3E50"/>
                </a:solidFill>
                <a:latin typeface="Calibri"/>
              </a:rPr>
              <a:t>🏛️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4348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5A8A9F"/>
                </a:solidFill>
                <a:latin typeface="Calibri"/>
              </a:rPr>
              <a:t>Contexto histórico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937760"/>
            <a:ext cx="3474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Calibri"/>
              </a:rPr>
              <a:t>Alcaldes, eventos, noticias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Calibri"/>
              </a:rPr>
              <a:t>Zaragoza Histórica  |  TFG DAM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73152" cy="548640"/>
          </a:xfrm>
          <a:prstGeom prst="rect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5A8A9F"/>
                </a:solidFill>
                <a:latin typeface="Calibri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  <a:latin typeface="Calibri"/>
              </a:rPr>
              <a:t>Cliente  →  API  →  Base de datos espacial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3383280" cy="2743200"/>
          </a:xfrm>
          <a:prstGeom prst="roundRect">
            <a:avLst/>
          </a:prstGeom>
          <a:solidFill>
            <a:srgbClr val="5A8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React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Leaflet + TypeScript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34800" y="3657600"/>
            <a:ext cx="457200" cy="5486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2560320"/>
            <a:ext cx="3383280" cy="2743200"/>
          </a:xfrm>
          <a:prstGeom prst="roundRect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404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FastAPI (Python)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3891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PostGIS + pyproj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066720" y="3657600"/>
            <a:ext cx="457200" cy="54864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95360" y="2560320"/>
            <a:ext cx="3383280" cy="2743200"/>
          </a:xfrm>
          <a:prstGeom prst="roundRect">
            <a:avLst/>
          </a:prstGeom>
          <a:solidFill>
            <a:srgbClr val="5A8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01752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8404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PostgreSQL + PostGIS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3891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Supabase +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Calibri"/>
              </a:rPr>
              <a:t>Zaragoza Histórica  |  TFG DAM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73152" cy="548640"/>
          </a:xfrm>
          <a:prstGeom prst="rect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5A8A9F"/>
                </a:solidFill>
                <a:latin typeface="Calibri"/>
              </a:rPr>
              <a:t>Decisiones técnicas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59435"/>
                </a:solidFill>
                <a:latin typeface="Calibri"/>
              </a:rPr>
              <a:t>Por qué cada elección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A8A9F"/>
                </a:solidFill>
                <a:latin typeface="Calibri"/>
              </a:rPr>
              <a:t>WebP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435"/>
                </a:solidFill>
                <a:latin typeface="Calibri"/>
              </a:rPr>
              <a:t>−65% tamaño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Calibri"/>
              </a:rPr>
              <a:t>Carga rápida móvil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19456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4688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A8A9F"/>
                </a:solidFill>
                <a:latin typeface="Calibri"/>
              </a:rPr>
              <a:t>Clustering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0632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435"/>
                </a:solidFill>
                <a:latin typeface="Calibri"/>
              </a:rPr>
              <a:t>5.214 markers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429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Calibri"/>
              </a:rPr>
              <a:t>Rendimiento Leaflet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A8A9F"/>
                </a:solidFill>
                <a:latin typeface="Calibri"/>
              </a:rPr>
              <a:t>PostGIS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74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435"/>
                </a:solidFill>
                <a:latin typeface="Calibri"/>
              </a:rPr>
              <a:t>Índices espaciales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440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Calibri"/>
              </a:rPr>
              <a:t>Queries bbox &lt;50ms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206240"/>
            <a:ext cx="53035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A5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48056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5A8A9F"/>
                </a:solidFill>
                <a:latin typeface="Calibri"/>
              </a:rPr>
              <a:t>Pooler IPv4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074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9435"/>
                </a:solidFill>
                <a:latin typeface="Calibri"/>
              </a:rPr>
              <a:t>Render free tier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440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  <a:latin typeface="Calibri"/>
              </a:rPr>
              <a:t>Sin IPv6 outbound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Calibri"/>
              </a:rPr>
              <a:t>Zaragoza Histórica  |  TFG DAM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73152" cy="548640"/>
          </a:xfrm>
          <a:prstGeom prst="rect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5A8A9F"/>
                </a:solidFill>
                <a:latin typeface="Calibri"/>
              </a:rPr>
              <a:t>Ingesta de datos (ETL)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7F8C8D"/>
                </a:solidFill>
                <a:latin typeface="Calibri"/>
              </a:rPr>
              <a:t>Pipeline de procesamiento</a:t>
            </a:r>
          </a:p>
        </p:txBody>
      </p:sp>
      <p:sp>
        <p:nvSpPr>
          <p:cNvPr id="6" name="Oval 5"/>
          <p:cNvSpPr/>
          <p:nvPr/>
        </p:nvSpPr>
        <p:spPr>
          <a:xfrm>
            <a:off x="1554480" y="2743200"/>
            <a:ext cx="822960" cy="822960"/>
          </a:xfrm>
          <a:prstGeom prst="ellipse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8803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A8A9F"/>
                </a:solidFill>
                <a:latin typeface="Calibri"/>
              </a:rPr>
              <a:t>Origen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Calibri"/>
              </a:rPr>
              <a:t>GML + CSV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60320" y="3063240"/>
            <a:ext cx="73152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80560" y="2743200"/>
            <a:ext cx="822960" cy="822960"/>
          </a:xfrm>
          <a:prstGeom prst="ellipse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8803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8404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A8A9F"/>
                </a:solidFill>
                <a:latin typeface="Calibri"/>
              </a:rPr>
              <a:t>Limpieza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343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Calibri"/>
              </a:rPr>
              <a:t>CP850 → UTF-8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486400" y="3063240"/>
            <a:ext cx="73152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06640" y="2743200"/>
            <a:ext cx="822960" cy="822960"/>
          </a:xfrm>
          <a:prstGeom prst="ellipse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28803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404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A8A9F"/>
                </a:solidFill>
                <a:latin typeface="Calibri"/>
              </a:rPr>
              <a:t>Transformar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43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Calibri"/>
              </a:rPr>
              <a:t>EPSG 25830 → 4326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412480" y="3063240"/>
            <a:ext cx="73152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332720" y="2743200"/>
            <a:ext cx="822960" cy="822960"/>
          </a:xfrm>
          <a:prstGeom prst="ellipse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2880360"/>
            <a:ext cx="822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8404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5A8A9F"/>
                </a:solidFill>
                <a:latin typeface="Calibri"/>
              </a:rPr>
              <a:t>Cargar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434340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Calibri"/>
              </a:rPr>
              <a:t>PostGIS + Storage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5A8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257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5.214 fotos   +   35.418 edificios   +   125 años de contexto histórico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Calibri"/>
              </a:rPr>
              <a:t>Zaragoza Histórica  |  TFG DAM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73152" cy="548640"/>
          </a:xfrm>
          <a:prstGeom prst="rect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5A8A9F"/>
                </a:solidFill>
                <a:latin typeface="Calibri"/>
              </a:rPr>
              <a:t>Demo en producción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7F8C8D"/>
                </a:solidFill>
                <a:latin typeface="Calibri"/>
              </a:rPr>
              <a:t>Desplegado en Render + Supabase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286000"/>
            <a:ext cx="94183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A8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418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0">
                <a:solidFill>
                  <a:srgbClr val="2C3E50"/>
                </a:solidFill>
                <a:latin typeface="Calibri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566160"/>
            <a:ext cx="9418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5A8A9F"/>
                </a:solidFill>
                <a:latin typeface="Calibri"/>
              </a:rPr>
              <a:t>zaragoza-historica-frontend-static.onrender.com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  <a:latin typeface="Calibri"/>
              </a:rPr>
              <a:t>Acceso público  ·  PWA  ·  Responsive móvil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Calibri"/>
              </a:rPr>
              <a:t>Zaragoza Histórica  |  TFG DAM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73152" cy="548640"/>
          </a:xfrm>
          <a:prstGeom prst="rect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5A8A9F"/>
                </a:solidFill>
                <a:latin typeface="Calibri"/>
              </a:rPr>
              <a:t>Reflexión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7F8C8D"/>
                </a:solidFill>
                <a:latin typeface="Calibri"/>
              </a:rPr>
              <a:t>Aprendizajes del proceso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194560"/>
            <a:ext cx="457200" cy="457200"/>
          </a:xfrm>
          <a:prstGeom prst="ellipse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402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2402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/>
              </a:rPr>
              <a:t>Arquitectura full-stack real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2880360"/>
            <a:ext cx="457200" cy="457200"/>
          </a:xfrm>
          <a:prstGeom prst="ellipse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9260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9260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/>
              </a:rPr>
              <a:t>Datos espaciales (PostGIS)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566160"/>
            <a:ext cx="457200" cy="457200"/>
          </a:xfrm>
          <a:prstGeom prst="ellipse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611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611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/>
              </a:rPr>
              <a:t>Despliegue cloud (Render + Supabase)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4251960"/>
            <a:ext cx="457200" cy="457200"/>
          </a:xfrm>
          <a:prstGeom prst="ellipse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297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2976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/>
              </a:rPr>
              <a:t>Ingesta ETL de fuentes heterogéneas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0" y="4937760"/>
            <a:ext cx="457200" cy="457200"/>
          </a:xfrm>
          <a:prstGeom prst="ellipse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9834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Calibri"/>
              </a:rPr>
              <a:t>Optimización rendimiento 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Calibri"/>
              </a:rPr>
              <a:t>Zaragoza Histórica  |  TFG DAM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8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37160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56616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41848" y="4663440"/>
            <a:ext cx="914400" cy="15000"/>
          </a:xfrm>
          <a:prstGeom prst="rect">
            <a:avLst/>
          </a:prstGeom>
          <a:solidFill>
            <a:srgbClr val="F59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¿Preguntas?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59435"/>
                </a:solidFill>
                <a:latin typeface="Calibri"/>
              </a:rPr>
              <a:t>zaragoza-historica-frontend-static.onrender.com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